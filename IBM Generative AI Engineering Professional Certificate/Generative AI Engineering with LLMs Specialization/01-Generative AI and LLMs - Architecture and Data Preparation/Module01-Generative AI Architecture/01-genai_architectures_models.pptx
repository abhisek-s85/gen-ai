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2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56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- IBM overview of GANs (images and visuals from text descriptions): https://www.ibm.com/think/topics/generative-adversarial-networks
- Stanford/AI Index &amp; survey references summarized in Wikipedia on text-to-video models (video diffusion): https://en.wikipedia.org/wiki/Text-to-video_model
- Lilian Weng, “Diffusion Models for Video Generation” (overview): https://lilianweng.github.io/posts/2024-04-12-diffusion-video/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- GAN overview (general background): https://www.ibm.com/think/topics/generative-adversarial-networks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- Diffusion model overview (noise → denoise framing): https://www.ibm.com/think/topics/diffusion-models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- IBM RLHF overview (RL used for fine-tuning): https://www.ibm.com/think/topics/rlhf
- Hugging Face RLHF explainer (overview): https://huggingface.co/blog/rlhf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1) RNN
2) Self-attention
3) Generator + Discriminator
4) VAE
5) Learn to denoise / reverse a noising process
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- Text-to-video diffusion overview (background): https://en.wikipedia.org/wiki/Text-to-video_model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transcript (user-supplied)
- Diffusion models overview: https://www.ibm.com/think/topics/diffusion-models
- Text-to-video diffusion overview: https://en.wikipedia.org/wiki/Text-to-video_model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38912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554480"/>
            <a:ext cx="3657600" cy="5486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2714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&amp; Models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• Transformers (GPT) • GANs • VAEs • Diffusion  |  Notes + Quiz + Flashcards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4754880"/>
            <a:ext cx="822960" cy="82296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77440" y="4754880"/>
            <a:ext cx="822960" cy="82296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4760" y="4754880"/>
            <a:ext cx="822960" cy="82296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2080" y="4754880"/>
            <a:ext cx="822960" cy="82296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9400" y="4754880"/>
            <a:ext cx="822960" cy="8229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architectures — study notes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be able to do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 from the session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you can…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10180015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common generative AI architectures and models.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each model is trained (what the learning loop looks like).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fine-tuning adapts a pretrained model to a specific task.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generative models relate to reinforcement learning (RL/RLHF).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model family for a text-to-visual (or text-to-video) product feature.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6172200"/>
            <a:ext cx="11094415" cy="50292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6172200"/>
            <a:ext cx="109728" cy="5029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6336792"/>
            <a:ext cx="10774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6720840"/>
            <a:ext cx="10774375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quiz + flashcards at the end to check recall (definitions, training approach, best-use cases).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scenario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visuals/video generation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building: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video clips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prompts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60120" y="3383280"/>
            <a:ext cx="5669280" cy="141732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" y="3383280"/>
            <a:ext cx="109728" cy="14173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61288" y="354787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1288" y="393192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describes scenes, style, and constraints (objects, mood, motion).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937760"/>
            <a:ext cx="5669280" cy="141732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0120" y="4937760"/>
            <a:ext cx="109728" cy="14173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61288" y="510235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1288" y="548640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frames or short clips that accurately match the prompt.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828800"/>
            <a:ext cx="5212080" cy="448056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5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694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family helps most?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69480" y="25603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set we cover today: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GANs are explicitly called out for image &amp; video generation.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Diffusion models excel at high-quality image synthesis by denoising noise.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modern text-to-video often builds on diffusion + attention/transformers for temporal coherence.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69480" y="5486400"/>
            <a:ext cx="141732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69480" y="553212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Pick: GAN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23960" y="5486400"/>
            <a:ext cx="141732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23960" y="553212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Diffusion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→ model choice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generative AI toolbox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common architecture/model families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45738" cy="20574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828800"/>
            <a:ext cx="777240" cy="777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1828800"/>
            <a:ext cx="2219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0" y="2221992"/>
            <a:ext cx="221985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Sequential/time-series models with loops (memory of prior inputs).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22978" y="1508760"/>
            <a:ext cx="3545738" cy="20574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1578" y="18288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0258" y="1828800"/>
            <a:ext cx="2219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420258" y="2221992"/>
            <a:ext cx="221985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enables selective focus + parallel training.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97317" y="1508760"/>
            <a:ext cx="3545738" cy="20574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5917" y="1828800"/>
            <a:ext cx="777240" cy="777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4597" y="1828800"/>
            <a:ext cx="2219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9194597" y="2221992"/>
            <a:ext cx="221985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vs discriminator competition for realistic samples.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2435809" y="3794760"/>
            <a:ext cx="3545738" cy="20574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4409" y="4114800"/>
            <a:ext cx="777240" cy="7772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33089" y="4114800"/>
            <a:ext cx="2219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3533089" y="4507992"/>
            <a:ext cx="221985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with probabilistic latent space (many plausible outputs).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10148" y="3794760"/>
            <a:ext cx="3545738" cy="20574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8748" y="4114800"/>
            <a:ext cx="777240" cy="7772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07428" y="4114800"/>
            <a:ext cx="2219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7307428" y="4507992"/>
            <a:ext cx="221985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from noise to data; strong for high-quality images.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/ model families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(Recurrent Neural Networks)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+ loop-based memory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2011680"/>
            <a:ext cx="1143000" cy="114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377440" y="23317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loops to carry information forward in time, so earlier inputs influence later outputs.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7440" y="2971800"/>
            <a:ext cx="5394960" cy="128016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77440" y="2971800"/>
            <a:ext cx="109728" cy="12801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78608" y="31363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fine-tuning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78608" y="35204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often adjusts weights (and sometimes structure) to match a specific task or dataset.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377440" y="4343400"/>
            <a:ext cx="5394960" cy="20116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377440" y="4343400"/>
            <a:ext cx="109728" cy="20116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78608" y="45079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78608" y="489204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modeling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translation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recognition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captioning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2011680"/>
            <a:ext cx="4114800" cy="43434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32104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21040" y="260604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 → h₁ → y₁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 → h₂ → y₂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32104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carries “memory” forward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+ parallelism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2011680"/>
            <a:ext cx="1143000" cy="114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377440" y="23317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the model focus on the most relevant parts of the input sequence—often enabling parallel training.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7440" y="3108960"/>
            <a:ext cx="6126480" cy="13258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77440" y="3108960"/>
            <a:ext cx="109728" cy="13258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78608" y="327355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(typical pattern)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78608" y="3657600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most of the pretrained transformer intact; train task-specific output layers (often the final layers).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377440" y="4572000"/>
            <a:ext cx="6126480" cy="17830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377440" y="4572000"/>
            <a:ext cx="109728" cy="17830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78608" y="473659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78608" y="5120640"/>
            <a:ext cx="5806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for NLP tasks and generation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long-range dependencies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Efficient training via parallelization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15400" y="2011680"/>
            <a:ext cx="3246120" cy="43434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098280" y="21945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sketch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098280" y="2743200"/>
            <a:ext cx="566928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098280" y="283464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774936" y="2743200"/>
            <a:ext cx="566928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774936" y="283464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451592" y="2743200"/>
            <a:ext cx="566928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451592" y="283464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1128248" y="2743200"/>
            <a:ext cx="566928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1128248" y="283464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804904" y="2743200"/>
            <a:ext cx="566928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1804904" y="283464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405872" y="2679192"/>
            <a:ext cx="658368" cy="54864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381744" y="2953512"/>
            <a:ext cx="1353312" cy="0"/>
          </a:xfrm>
          <a:prstGeom prst="line">
            <a:avLst/>
          </a:prstGeom>
          <a:noFill/>
          <a:ln w="25400">
            <a:solidFill>
              <a:srgbClr val="7C3AED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058400" y="2953512"/>
            <a:ext cx="676656" cy="0"/>
          </a:xfrm>
          <a:prstGeom prst="line">
            <a:avLst/>
          </a:prstGeom>
          <a:noFill/>
          <a:ln w="25400">
            <a:solidFill>
              <a:srgbClr val="7C3AED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735056" y="2953512"/>
            <a:ext cx="676656" cy="0"/>
          </a:xfrm>
          <a:prstGeom prst="line">
            <a:avLst/>
          </a:prstGeom>
          <a:noFill/>
          <a:ln w="25400">
            <a:solidFill>
              <a:srgbClr val="7C3AED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0735056" y="2953512"/>
            <a:ext cx="1353312" cy="0"/>
          </a:xfrm>
          <a:prstGeom prst="line">
            <a:avLst/>
          </a:prstGeom>
          <a:noFill/>
          <a:ln w="25400">
            <a:solidFill>
              <a:srgbClr val="7C3AED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098280" y="35204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attends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 tokens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(Generative Pre-trained Transformer)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text generation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GPT “generative”?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05840" y="2560320"/>
            <a:ext cx="5669280" cy="141732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5840" y="2560320"/>
            <a:ext cx="109728" cy="14173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7008" y="2724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310896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 in a text sequence; generation happens by repeatedly predicting and sampling tokens.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114800"/>
            <a:ext cx="5669280" cy="219456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4114800"/>
            <a:ext cx="109728" cy="21945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7008" y="427939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useful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4663440"/>
            <a:ext cx="5349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natural-language generation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Fine-tunes well for task-specific behavior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text that mirrors patterns in training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2560320"/>
            <a:ext cx="5212080" cy="37490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Completion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23760" y="3200400"/>
            <a:ext cx="4663440" cy="11430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331927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caption for a photo of a dog wearing sunglasses…”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4480560"/>
            <a:ext cx="4663440" cy="16002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4599432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“Too cool for fetch — shades on, tongue out, living my best life.”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(Generative Adversarial Networks)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vs discriminator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2011680"/>
            <a:ext cx="1143000" cy="114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Two-player “friendly competition”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37744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makes fake samples; Discriminator scores authenticity vs real data. Both improve over time.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7440" y="3063240"/>
            <a:ext cx="5669280" cy="150876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77440" y="3063240"/>
            <a:ext cx="109728" cy="15087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78608" y="32278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78608" y="3611880"/>
            <a:ext cx="534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Train discriminator to distinguish real vs fake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Train generator to fool the discriminator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377440" y="4754880"/>
            <a:ext cx="5669280" cy="16002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377440" y="4754880"/>
            <a:ext cx="109728" cy="16002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78608" y="491947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Best-known uses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78608" y="5303520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generation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generation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Style transfer / image-to-image tasks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366760" y="2011680"/>
            <a:ext cx="3794760" cy="43434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59536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641080" y="2651760"/>
            <a:ext cx="3291840" cy="731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41080" y="2807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641080" y="4297680"/>
            <a:ext cx="3291840" cy="731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641080" y="44531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641080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z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829800" y="3566160"/>
            <a:ext cx="20116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698480" y="3337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x̂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287000" y="3474720"/>
            <a:ext cx="0" cy="77724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41080" y="5120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p(real)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 (Variational Autoencoders)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+ probabilistic latent 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2011680"/>
            <a:ext cx="1143000" cy="114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377440" y="23774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data into a compact latent space that represents a probability distribution; decode to reconstruct or generate variations.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7440" y="3200400"/>
            <a:ext cx="5943600" cy="150876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77440" y="3200400"/>
            <a:ext cx="109728" cy="15087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78608" y="3364992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“variational” part adds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78608" y="3749040"/>
            <a:ext cx="5623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variables are distributions (not single points), so the model can produce multiple plausible outputs for the same input.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377440" y="4892040"/>
            <a:ext cx="5943600" cy="14630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377440" y="4892040"/>
            <a:ext cx="109728" cy="14630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78608" y="5056632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shines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78608" y="5440680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 and creative design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Controlled variation / interpolation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compact representations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41080" y="2011680"/>
            <a:ext cx="3520440" cy="43434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82396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→ Latent → Decoder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823960" y="2651760"/>
            <a:ext cx="1005840" cy="2651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823960" y="38130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195560" y="3337560"/>
            <a:ext cx="822960" cy="822960"/>
          </a:xfrm>
          <a:prstGeom prst="ellipse">
            <a:avLst/>
          </a:prstGeom>
          <a:solidFill>
            <a:srgbClr val="121A33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195560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z~𝒩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1384280" y="2651760"/>
            <a:ext cx="1005840" cy="2651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1384280" y="38130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875520" y="3749040"/>
            <a:ext cx="320040" cy="0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1018520" y="3749040"/>
            <a:ext cx="320040" cy="0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by denoising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2011680"/>
            <a:ext cx="1143000" cy="114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377440" y="2377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reverse a noising process: start from noise and iteratively remove noise to reconstruct data.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7440" y="3063240"/>
            <a:ext cx="6126480" cy="15544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77440" y="3063240"/>
            <a:ext cx="109728" cy="15544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78608" y="322783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well for images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78608" y="3611880"/>
            <a:ext cx="5806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produce highly detailed samples by refining them step-by-step, guided by the prompt and learned statistics.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377440" y="4800600"/>
            <a:ext cx="6126480" cy="15544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377440" y="4800600"/>
            <a:ext cx="109728" cy="15544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78608" y="496519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 case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78608" y="5349240"/>
            <a:ext cx="5806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noisy or low-quality input (e.g., old distorted photo) by learning how to denoise and reconstruct.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778240" y="2011680"/>
            <a:ext cx="3383280" cy="43434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96112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steps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961120" y="2743200"/>
            <a:ext cx="868680" cy="7772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961120" y="29260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875520" y="3131820"/>
            <a:ext cx="1554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030968" y="2743200"/>
            <a:ext cx="868680" cy="7772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030968" y="29260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945368" y="3131820"/>
            <a:ext cx="1554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1100816" y="2743200"/>
            <a:ext cx="868680" cy="7772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1100816" y="29260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96112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approaches at a glance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learning loop differs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2036003" cy="39776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86000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063240"/>
            <a:ext cx="16702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8680" y="3474720"/>
            <a:ext cx="1395923" cy="0"/>
          </a:xfrm>
          <a:prstGeom prst="line">
            <a:avLst/>
          </a:prstGeom>
          <a:noFill/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3657600"/>
            <a:ext cx="157880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Loop-based state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Sequential dependence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13243" y="2057400"/>
            <a:ext cx="2036003" cy="39776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6123" y="2286000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6123" y="3063240"/>
            <a:ext cx="16702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133283" y="3474720"/>
            <a:ext cx="1395923" cy="0"/>
          </a:xfrm>
          <a:prstGeom prst="line">
            <a:avLst/>
          </a:prstGeom>
          <a:noFill/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041843" y="3657600"/>
            <a:ext cx="157880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Self-attention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Parallelizable training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77846" y="2057400"/>
            <a:ext cx="2036003" cy="39776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FB7185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60726" y="2286000"/>
            <a:ext cx="685800" cy="685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60726" y="3063240"/>
            <a:ext cx="16702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397886" y="3474720"/>
            <a:ext cx="1395923" cy="0"/>
          </a:xfrm>
          <a:prstGeom prst="line">
            <a:avLst/>
          </a:prstGeom>
          <a:noFill/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306446" y="3657600"/>
            <a:ext cx="157880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Generator vs discriminator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Adversarial objective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342449" y="2057400"/>
            <a:ext cx="2036003" cy="39776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34D399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25329" y="2286000"/>
            <a:ext cx="685800" cy="6858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25329" y="3063240"/>
            <a:ext cx="16702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7662489" y="3474720"/>
            <a:ext cx="1395923" cy="0"/>
          </a:xfrm>
          <a:prstGeom prst="line">
            <a:avLst/>
          </a:prstGeom>
          <a:noFill/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571049" y="3657600"/>
            <a:ext cx="157880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Latent distribution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Reconstruction + regularization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607052" y="2057400"/>
            <a:ext cx="2036003" cy="39776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FBBF24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9932" y="2286000"/>
            <a:ext cx="685800" cy="6858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89932" y="3063240"/>
            <a:ext cx="16702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9927092" y="3474720"/>
            <a:ext cx="1395923" cy="0"/>
          </a:xfrm>
          <a:prstGeom prst="line">
            <a:avLst/>
          </a:prstGeom>
          <a:noFill/>
          <a:ln w="12700">
            <a:solidFill>
              <a:srgbClr val="26315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9835652" y="3657600"/>
            <a:ext cx="157880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Denoise over steps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reverse-noise process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960120" y="621792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“training game” changes—sequential state, attention, competition, latent distributions, or denoising dynamics.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&amp; reinforcement learning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RL can show 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relationship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optimizes behavior via rewards. Generative models can use RL-based fine-tuning to better match a target objective (e.g., helpfulness, safety, user preference).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291840"/>
            <a:ext cx="10180015" cy="233172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3520440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common pattern (RLHF/RLAIF style)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4069080"/>
            <a:ext cx="2304974" cy="1325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4233672"/>
            <a:ext cx="20306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Pretrain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572000"/>
            <a:ext cx="20306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broad patterns from large datasets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03422" y="4732020"/>
            <a:ext cx="100584" cy="0"/>
          </a:xfrm>
          <a:prstGeom prst="line">
            <a:avLst/>
          </a:prstGeom>
          <a:noFill/>
          <a:ln w="25400">
            <a:solidFill>
              <a:srgbClr val="7E89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22294" y="4069080"/>
            <a:ext cx="2304974" cy="1325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59454" y="4233672"/>
            <a:ext cx="20306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Supervised fine-tune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59454" y="4572000"/>
            <a:ext cx="20306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task format with examples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45556" y="4732020"/>
            <a:ext cx="100584" cy="0"/>
          </a:xfrm>
          <a:prstGeom prst="line">
            <a:avLst/>
          </a:prstGeom>
          <a:noFill/>
          <a:ln w="25400">
            <a:solidFill>
              <a:srgbClr val="7E89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4428" y="4069080"/>
            <a:ext cx="2304974" cy="1325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1588" y="4233672"/>
            <a:ext cx="20306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Reward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1588" y="4572000"/>
            <a:ext cx="20306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“good” looks like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87689" y="4732020"/>
            <a:ext cx="100584" cy="0"/>
          </a:xfrm>
          <a:prstGeom prst="line">
            <a:avLst/>
          </a:prstGeom>
          <a:noFill/>
          <a:ln w="25400">
            <a:solidFill>
              <a:srgbClr val="7E89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06561" y="4069080"/>
            <a:ext cx="2304974" cy="1325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743721" y="4233672"/>
            <a:ext cx="20306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RL optimize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43721" y="4572000"/>
            <a:ext cx="20306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outputs to maximize reward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2011680"/>
            <a:ext cx="3657600" cy="11430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503920" y="2011680"/>
            <a:ext cx="109728" cy="11430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05088" y="2176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0508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is often used as a *fine-tuning* stage, not the only training stage.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3291840"/>
            <a:ext cx="3657600" cy="11430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503920" y="3291840"/>
            <a:ext cx="109728" cy="11430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05088" y="34564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transcript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05088" y="38404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models can employ RL techniques to optimize for specific tasks.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4572000"/>
            <a:ext cx="3657600" cy="17830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34D399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03920" y="4572000"/>
            <a:ext cx="109728" cy="178308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05088" y="47365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signals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05088" y="512064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preference ratings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critique labels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success metrics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GenAI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 (check your understanding)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— answers in speaker notes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377440"/>
            <a:ext cx="9905695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model family is built around a loop that carries “memory” forward?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mechanism lets transformers focus on important parts of the input?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 a GAN, what are the two sub-models called?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model family uses an encoder–decoder with a probabilistic latent space?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core training idea behind diffusion models?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6035040"/>
            <a:ext cx="10180015" cy="8686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6035040"/>
            <a:ext cx="109728" cy="8686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7008" y="6199632"/>
            <a:ext cx="9859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7008" y="6583680"/>
            <a:ext cx="9859975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correct: you’re ready. 2–3: review the “training approaches” slide. 0–1: re-read the model definitions.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(1/2)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= term • Back = quick recall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96596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06654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with loops; remembers prior inputs.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99178" y="173736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27778" y="196596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7778" y="206654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73498" y="260604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Self-attention; processes tokens in parallel.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21117" y="173736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49717" y="196596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49717" y="206654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95437" y="260604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relationships among tokens to focus on what matters.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09194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05840" y="432054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42112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496062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pretrained model to a specific task/dataset.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99178" y="409194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27778" y="432054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27778" y="442112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73498" y="496062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vs discriminator competition to produce realistic samples.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21117" y="409194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49717" y="432054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49717" y="442112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95437" y="496062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whether a sample looks real.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(1/2)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(2/2)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= term • Back = quick recall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96596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06654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Encoder–decoder; latent variables are probability distributions.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99178" y="173736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27778" y="196596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7778" y="206654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73498" y="260604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representation capturing essential characteristics.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21117" y="173736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49717" y="196596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49717" y="206654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95437" y="260604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by iteratively denoising from noise to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09194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05840" y="432054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42112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496062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noise to reconstruct an example (reverse diffusion).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99178" y="409194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27778" y="432054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27778" y="442112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(in GenAI)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73498" y="496062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outputs to maximize a reward signal (preferences/metrics).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21117" y="4091940"/>
            <a:ext cx="3393338" cy="212598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4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49717" y="4320540"/>
            <a:ext cx="2936138" cy="5029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49717" y="4421124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video?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95437" y="4960620"/>
            <a:ext cx="2844698" cy="1074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lesson: GANs (and often diffusion in modern systems).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(2/2)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-365760"/>
            <a:ext cx="5303520" cy="2011680"/>
          </a:xfrm>
          <a:prstGeom prst="parallelogram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600000">
            <a:off x="8229600" y="5212080"/>
            <a:ext cx="5486400" cy="2103120"/>
          </a:xfrm>
          <a:prstGeom prst="parallelogram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329184"/>
            <a:ext cx="11094415" cy="7772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29184"/>
            <a:ext cx="164592" cy="777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786384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4415" cy="4937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5669280" cy="214884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011680"/>
            <a:ext cx="109728" cy="214884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7008" y="217627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mechanism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2560320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RNNs: loops + sequential memory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Transformers: self-attention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GANs: adversarial competition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VAEs: probabilistic latent space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Diffusion: denoise from noise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4297680"/>
            <a:ext cx="5669280" cy="20574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7C3AED">
                <a:alpha val="90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4297680"/>
            <a:ext cx="109728" cy="20574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7008" y="446227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selection heuristic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484632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generation: Transformers (e.g., GPT)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Diffusion (often) or GANs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GANs (classic) + diffusion-based video models (modern)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variation: VAEs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011680"/>
            <a:ext cx="5120640" cy="4343400"/>
          </a:xfrm>
          <a:prstGeom prst="roundRect">
            <a:avLst/>
          </a:prstGeom>
          <a:solidFill>
            <a:srgbClr val="0F1630"/>
          </a:solidFill>
          <a:ln w="12700">
            <a:solidFill>
              <a:srgbClr val="263158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checklist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26060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What data type is primary? (text / audio / images / video)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Do you need sequential state or can you parallelize?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Is the training objective a game (GAN) or denoising (diffusion)?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Do you need controllable variation (VAE latent space)?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8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Will you fine-tune (and maybe RL-tune) for your product goal?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62636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got this — run the quiz again tomorrow for spaced repetition.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1986</Words>
  <Application>Microsoft Macintosh PowerPoint</Application>
  <PresentationFormat>Widescreen</PresentationFormat>
  <Paragraphs>283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ABHISEKA SAHU</cp:lastModifiedBy>
  <cp:revision>2</cp:revision>
  <dcterms:created xsi:type="dcterms:W3CDTF">2026-02-08T05:34:00Z</dcterms:created>
  <dcterms:modified xsi:type="dcterms:W3CDTF">2026-02-18T15:25:10Z</dcterms:modified>
</cp:coreProperties>
</file>